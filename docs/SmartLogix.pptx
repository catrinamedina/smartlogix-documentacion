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985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presentar SmartLogix como una plataforma logística de eCommerce. Enfatizar que la exposición se divide en arquitectura, backend, frontend, integración, Docker y evidencias de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caso en términos simples: el sistema gestiona usuarios, productos, pedidos, envíos y notificaciones. La arquitectura se eligió para separar responsabilidades, evitar dependencias directas y facilitar mantenimiento.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para recorrer el sistema de izquierda a derecha. Recalcar que la interfaz React consume endpoints y que el Gateway evita exponer directamente cada microservicio al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este punto como la entrada controlada al backend. Login y registro son públicos; lo demás requiere token. Los roles determinan acciones permitidas, especialmente en inventario, bodegas, proveedores, pedidos y envíos.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rápidamente la responsabilidad de cada servicio y su puerto. La idea no es detallar cada endpoint, sino demostrar que la arquitectura divide el negocio por módulos independientes.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directamente a lo anotado en la pizarra: Circuit Breaker, Factory Method, RabbitMQ, Eureka, CORS, JWT, repositorios y comunicación por Feign.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Docker Compose permite replicar el entorno sin configurar manualmente cada dependencia. Recalcar la red común spring-net, los healthchecks y los volúmenes para que los datos no se pierdan al reiniciar.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cubre lo anotado para frontend: React, useEffect, useState, useNavigate, componentes, librerías y consumo de API. No entrar línea por línea; explicar el patrón común repetido en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módulo en una frase. El foco es demostrar que el frontend no es solo pantallas sueltas: usa una estructura común para cargar datos, validar y enviar peticiones al Gateway.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sirve para cerrar la parte técnica con un ejemplo real. Recorrer el flujo de negocio: login, pedido, validación de stock, creación de envío y notificación.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Swagger demuestra documentación de endpoints y Postman valida funcionamiento. SonarQube entrega métricas: mantenibilidad A en los servicios principales, pero seguridad D en algunos módulos, por lo que hay oportunidades de mejora antes de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una conclusión segura: la solución no es perfecta, pero tiene una base técnica sólida y los puntos a mejorar están identificados.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SmartLogix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713232" y="157276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F5"/>
                </a:solidFill>
              </a:rPr>
              <a:t>Arquitectura Backend y Frontend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95681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AC4"/>
                </a:solidFill>
              </a:rPr>
              <a:t>Presentación técnica concisa para 10 minutos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097280" cy="320040"/>
          </a:xfrm>
          <a:prstGeom prst="rect">
            <a:avLst/>
          </a:prstGeom>
          <a:solidFill>
            <a:srgbClr val="49D6F5">
              <a:alpha val="95000"/>
            </a:srgbClr>
          </a:solidFill>
          <a:ln w="12700">
            <a:solidFill>
              <a:srgbClr val="49D6F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65960" y="2971800"/>
            <a:ext cx="1508760" cy="320040"/>
          </a:xfrm>
          <a:prstGeom prst="rect">
            <a:avLst/>
          </a:prstGeom>
          <a:solidFill>
            <a:srgbClr val="64E889">
              <a:alpha val="95000"/>
            </a:srgbClr>
          </a:solidFill>
          <a:ln w="12700">
            <a:solidFill>
              <a:srgbClr val="64E889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1143000" cy="320040"/>
          </a:xfrm>
          <a:prstGeom prst="rect">
            <a:avLst/>
          </a:prstGeom>
          <a:solidFill>
            <a:srgbClr val="FF6EC7">
              <a:alpha val="95000"/>
            </a:srgbClr>
          </a:solidFill>
          <a:ln w="12700">
            <a:solidFill>
              <a:srgbClr val="FF6EC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2971800"/>
            <a:ext cx="1325880" cy="320040"/>
          </a:xfrm>
          <a:prstGeom prst="rect">
            <a:avLst/>
          </a:prstGeom>
          <a:solidFill>
            <a:srgbClr val="8E7BFF">
              <a:alpha val="95000"/>
            </a:srgbClr>
          </a:solidFill>
          <a:ln w="12700">
            <a:solidFill>
              <a:srgbClr val="8E7B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RabbitMQ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380390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3F8FA"/>
                </a:solidFill>
              </a:rPr>
              <a:t>Backend desacoplado · Microservicios · Seguridad JWT · Interfaz operativa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908713" y="4334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AEBAC4"/>
                </a:solidFill>
              </a:rPr>
              <a:t>SmartLogix — Plataforma inteligente para gestión logística de eCommerce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1FA8CF5-D9D4-1740-1B9B-97DD826B0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635" y="1901952"/>
            <a:ext cx="3272932" cy="32729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Contexto y objetivo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877824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resuelve el sistema y por qué se eligió arquitectura de microservicios.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6EC7"/>
                </a:solidFill>
              </a:rPr>
              <a:t>PROBLEMA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50749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6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Arquitecturas monolíticas dificultan escalar módulos como inventario, pedidos y envíos.
</a:t>
            </a:r>
            <a:r>
              <a:rPr lang="en-US" sz="1500" b="1" dirty="0">
                <a:solidFill>
                  <a:srgbClr val="FF6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sincronización entre stock, órdenes y despacho puede generar errores operativos.
</a:t>
            </a:r>
            <a:r>
              <a:rPr lang="en-US" sz="1500" b="1" dirty="0">
                <a:solidFill>
                  <a:srgbClr val="FF6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frontend necesita un único punto de acceso, pero el backend requiere servicios independientes.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508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4E889"/>
                </a:solidFill>
              </a:rPr>
              <a:t>SOLUCIÓN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0292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React desacoplado que consume la API desde localhost:8080.
</a:t>
            </a:r>
            <a:r>
              <a:rPr lang="en-US" sz="150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 centraliza rutas, autenticación JWT, CORS y control por roles.
</a:t>
            </a:r>
            <a:r>
              <a:rPr lang="en-US" sz="150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Microservicios con PostgreSQL propio, Eureka, RabbitMQ y Docker Compose.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931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9D6F5"/>
                </a:solidFill>
              </a:rPr>
              <a:t>Idea clave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4315968"/>
            <a:ext cx="105613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3F8FA"/>
                </a:solidFill>
              </a:rPr>
              <a:t>SmartLogix separa responsabilidades: cada servicio resuelve una parte del negocio, y el frontend actúa como una capa visual única para operar el sistema.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Arquitectura general fullstack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877824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base: React → API Gateway → microservicios → bases de datos y mensajería.</a:t>
            </a:r>
            <a:endParaRPr lang="en-US" sz="1180" dirty="0"/>
          </a:p>
        </p:txBody>
      </p:sp>
      <p:pic>
        <p:nvPicPr>
          <p:cNvPr id="7" name="Image 0" descr="/mnt/data/20a7a255-8f55-4d7b-b07b-7f72850d38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29" y="1234440"/>
            <a:ext cx="7248662" cy="5010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75320" y="1417320"/>
            <a:ext cx="3273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9D6F5"/>
                </a:solidFill>
              </a:rPr>
              <a:t>Lectura del diagrama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75320" y="1746504"/>
            <a:ext cx="3273552" cy="969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3F8FA"/>
                </a:solidFill>
              </a:rPr>
              <a:t>El frontend no se comunica directamente con las bases ni con cada servicio. Todas las solicitudes pasan por el API Gateway, que valida el token y enruta al microservicio correspondiente.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8275320" y="2971800"/>
            <a:ext cx="3273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E889"/>
                </a:solidFill>
              </a:rPr>
              <a:t>Componentes principales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75320" y="3300984"/>
            <a:ext cx="3273552" cy="969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3F8FA"/>
                </a:solidFill>
              </a:rPr>
              <a:t>Frontend React · API Gateway/BFF · Eureka Server · Usuarios · Inventario · Pedidos · Envíos · Notificaciones · RabbitMQ · PostgreSQL por servicio.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8275320" y="4526280"/>
            <a:ext cx="3273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EC7"/>
                </a:solidFill>
              </a:rPr>
              <a:t>Punto fuerte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75320" y="4855464"/>
            <a:ext cx="3273552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3F8FA"/>
                </a:solidFill>
              </a:rPr>
              <a:t>Se aplica separación de responsabilidades: cada microservicio mantiene su lógica, repositorios y base de datos propia.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Backend: Gateway, seguridad y rutas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877824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API Gateway funciona como punto único de entrada y filtro de autenticación.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49D6F5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49D6F5"/>
                </a:solidFill>
              </a:rPr>
              <a:t>API Gateway · :8080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594360" y="1655064"/>
            <a:ext cx="3429000" cy="109728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Define rutas /api/** hacia servicios con lb:// y Eureka. Centraliza entrada desde React y evita que el frontend conozca puertos internos.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389120" y="1325880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64E889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64E889"/>
                </a:solidFill>
              </a:rPr>
              <a:t>JWT + roles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4389120" y="1655064"/>
            <a:ext cx="3429000" cy="109728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JwtAuthFilter valida Bearer Token, extrae username/rol y crea autenticación con ROLE_ADMIN, ROLE_VENDEDOR, ROLE_USER o ROLE_PROVEEDOR.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183880" y="1325880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FF6EC7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F6EC7"/>
                </a:solidFill>
              </a:rPr>
              <a:t>CORS + sesión stateless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8183880" y="1655064"/>
            <a:ext cx="3429000" cy="109728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SecurityConfig habilita CORS, desactiva CSRF y usa SessionCreationPolicy.STATELESS para trabajar con tokens.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77240" y="3310128"/>
            <a:ext cx="4800600" cy="1828800"/>
          </a:xfrm>
          <a:prstGeom prst="rect">
            <a:avLst/>
          </a:prstGeom>
          <a:solidFill>
            <a:srgbClr val="07131A"/>
          </a:solidFill>
          <a:ln w="10160">
            <a:solidFill>
              <a:srgbClr val="49D6F5">
                <a:alpha val="70000"/>
              </a:srgbClr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PUBLICOS: /login, /registrar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&lt;token&gt;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inventario =&gt; autenticado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POST/PUT inventario =&gt; ADMIN o VENDEDOR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inventario =&gt; ADMIN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/api/envios/** =&gt; ADMIN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989320" y="3337560"/>
            <a:ext cx="53492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Eureka permite resolver servicios por nombre, no por IP fija.
</a:t>
            </a:r>
            <a:r>
              <a:rPr lang="en-US" sz="138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Gateway expone rutas de usuarios, inventario, pedidos, envíos, notificaciones, bodegas, proveedores y boletas.
</a:t>
            </a:r>
            <a:r>
              <a:rPr lang="en-US" sz="138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token también se reinyecta como headers internos X-Username y X-Rol.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Backend: microservicios implementados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877824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servicio resuelve una responsabilidad de negocio y mantiene su propia persistencia.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24612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49D6F5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49D6F5"/>
                </a:solidFill>
              </a:rPr>
              <a:t>Usuarios · :8081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685800" y="1746504"/>
            <a:ext cx="3246120" cy="886968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Registro, login, consulta por username/rol, JWT y roles.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453128" y="1417320"/>
            <a:ext cx="324612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64E889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64E889"/>
                </a:solidFill>
              </a:rPr>
              <a:t>Inventario · :8082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4453128" y="1746504"/>
            <a:ext cx="3246120" cy="886968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Productos, stock, bodegas, proveedores, alertas de stock crítico.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220456" y="1417320"/>
            <a:ext cx="324612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FF6EC7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F6EC7"/>
                </a:solidFill>
              </a:rPr>
              <a:t>Pedidos · :8083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8220456" y="1746504"/>
            <a:ext cx="3246120" cy="886968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Crea pedidos, valida stock, genera boletas y coordina envíos/notificaciones.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324612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FFB347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FB347"/>
                </a:solidFill>
              </a:rPr>
              <a:t>Envíos · :8084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685800" y="3758184"/>
            <a:ext cx="3246120" cy="886968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Registra despacho, seguimiento, estado, Feign + Circuit Breaker.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453128" y="3429000"/>
            <a:ext cx="324612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8E7B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8E7BFF"/>
                </a:solidFill>
              </a:rPr>
              <a:t>Notificaciones · :8085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4453128" y="3758184"/>
            <a:ext cx="3246120" cy="886968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Crea, lista, elimina y envía avisos por usuario/rol; consume RabbitMQ.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85800" y="5349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E889"/>
                </a:solidFill>
              </a:rPr>
              <a:t>Database per Service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5349240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F3F8FA"/>
                </a:solidFill>
              </a:rPr>
              <a:t>baseusuarios · baseinventario · basepedidos · baseenvios · basenotificaciones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85800" y="57972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AEBAC4"/>
                </a:solidFill>
              </a:rPr>
              <a:t>PostgreSQL independiente por módulo evita acoplamiento directo entre servicios.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Patrones y comunicación técnica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877824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Patrones pedidos en la revisión: seguridad, desacoplamiento, resiliencia y asincronía.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516636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49D6F5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49D6F5"/>
                </a:solidFill>
              </a:rPr>
              <a:t>Repository Pattern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5166360" cy="667512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Controllers → Services → Repositories JPA; separa negocio de persistencia.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217920" y="1298448"/>
            <a:ext cx="516636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64E889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64E889"/>
                </a:solidFill>
              </a:rPr>
              <a:t>Factory Method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6217920" y="1627632"/>
            <a:ext cx="5166360" cy="667512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Pedidos y envíos NORMAL/EXPRESS sin condicionales extensos.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4360" y="2715768"/>
            <a:ext cx="516636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FF6EC7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F6EC7"/>
                </a:solidFill>
              </a:rPr>
              <a:t>OpenFeign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594360" y="3044952"/>
            <a:ext cx="5166360" cy="667512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Pedidos consulta Usuarios, Inventario, Envíos y Notificaciones por cliente declarativo.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217920" y="2715768"/>
            <a:ext cx="516636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FFB347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FB347"/>
                </a:solidFill>
              </a:rPr>
              <a:t>Circuit Breaker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6217920" y="3044952"/>
            <a:ext cx="5166360" cy="667512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Envíos protege llamada a transportista externo; fallback marca servicio no disponible.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94360" y="4133088"/>
            <a:ext cx="516636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8E7B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8E7BFF"/>
                </a:solidFill>
              </a:rPr>
              <a:t>RabbitMQ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594360" y="4462272"/>
            <a:ext cx="5166360" cy="667512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Inventario publica stock crítico; Notificaciones consume stock.critico.queue.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217920" y="4133088"/>
            <a:ext cx="516636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64E889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64E889"/>
                </a:solidFill>
              </a:rPr>
              <a:t>Database per Service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6217920" y="4462272"/>
            <a:ext cx="5166360" cy="667512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Cada microservicio tiene su PostgreSQL y no comparte tablas directamente.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1051560" y="5760720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F8FA"/>
                </a:solidFill>
              </a:rPr>
              <a:t>Resultado: menor acoplamiento, comunicación controlada y mejor tolerancia a fallos.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Infraestructura con Docker Compose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877824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 local levanta servicios, bases, RabbitMQ, Eureka y SonarQube en una misma red.</a:t>
            </a:r>
            <a:endParaRPr lang="en-US" sz="1180" dirty="0"/>
          </a:p>
        </p:txBody>
      </p:sp>
      <p:pic>
        <p:nvPicPr>
          <p:cNvPr id="7" name="Image 0" descr="/mnt/data/b68e2ea5-7913-4bd8-94c5-e8efa38c7b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9121"/>
            <a:ext cx="7406640" cy="41482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1325880"/>
            <a:ext cx="3273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9D6F5"/>
                </a:solidFill>
              </a:rPr>
              <a:t>docker-compose.yml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83880" y="1655064"/>
            <a:ext cx="3273552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3F8FA"/>
                </a:solidFill>
              </a:rPr>
              <a:t>Define servicios, imágenes, puertos, variables de entorno, depends_on, healthchecks, red spring-net y volúmenes persistentes.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8183880" y="2816352"/>
            <a:ext cx="3273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E889"/>
                </a:solidFill>
              </a:rPr>
              <a:t>Persistencia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183880" y="3145536"/>
            <a:ext cx="3273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3F8FA"/>
                </a:solidFill>
              </a:rPr>
              <a:t>Cada PostgreSQL usa un volumen propio: usuarios-data, inventario-data, pedidos-data, envios-data y notificaciones-data.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8183880" y="4069080"/>
            <a:ext cx="32735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EC7"/>
                </a:solidFill>
              </a:rPr>
              <a:t>Calidad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183880" y="4398264"/>
            <a:ext cx="327355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3F8FA"/>
                </a:solidFill>
              </a:rPr>
              <a:t>SonarQube se incluye en :9000 con su propia base db-sonarqube para revisar mantenibilidad, seguridad y confiabilidad.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804672" y="560527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BAC4"/>
                </a:solidFill>
              </a:rPr>
              <a:t>Puertos clave: Gateway 8080 · Eureka 8761 · RabbitMQ 5672/15672 · SonarQube 9000 · PostgreSQL 5433–5437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Frontend React: estructura y navegación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877824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modular para operar el sistema desde una sola aplicación web.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49D6F5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49D6F5"/>
                </a:solidFill>
              </a:rPr>
              <a:t>App.jsx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594360" y="1655064"/>
            <a:ext cx="3429000" cy="96012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BrowserRouter, Routes, Navigate. Mantiene user en estado y redirige a /login o /dashboard.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389120" y="1325880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64E889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64E889"/>
                </a:solidFill>
              </a:rPr>
              <a:t>Login / Registro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4389120" y="1655064"/>
            <a:ext cx="3429000" cy="96012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Formularios controlados con useState. Validan usuario, correo permitido y contraseña mínima antes de llamar a la API.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183880" y="1325880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FF6EC7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F6EC7"/>
                </a:solidFill>
              </a:rPr>
              <a:t>Dashboard + Navbar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8183880" y="1655064"/>
            <a:ext cx="3429000" cy="96012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Rutas internas para inventario, pedidos, envíos, notificaciones, proveedores y bodegas. Navbar usa NavLink y useNavigate.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22960" y="3154680"/>
            <a:ext cx="4937760" cy="1645920"/>
          </a:xfrm>
          <a:prstGeom prst="rect">
            <a:avLst/>
          </a:prstGeom>
          <a:solidFill>
            <a:srgbClr val="07131A"/>
          </a:solidFill>
          <a:ln w="10160">
            <a:solidFill>
              <a:srgbClr val="49D6F5">
                <a:alpha val="70000"/>
              </a:srgbClr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API_BASE = "http://localhost:8080";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 = localStorage.getItem("token");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"Content-Type": "application/json",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Authorization: `Bearer ${token}`,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CE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6080760" y="3063240"/>
            <a:ext cx="51206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hooks: useState para formularios/estado y useEffect para cargar datos al montar componentes.
</a:t>
            </a:r>
            <a:r>
              <a:rPr lang="en-US" sz="138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 guarda token, id, username, correo y rol tras login.
</a:t>
            </a:r>
            <a:r>
              <a:rPr lang="en-US" sz="138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8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navegación protege el dashboard: si no hay usuario, vuelve al login.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3F8FA"/>
                </a:solidFill>
              </a:rPr>
              <a:t>Patrón frontend: componente visual + funciones fetch + validaciones + mensajes de error/éxito.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Frontend: módulos funcionales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877824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 conectadas al Gateway con formularios, tablas, filtros y feedback visual.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64E889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64E889"/>
                </a:solidFill>
              </a:rPr>
              <a:t>Inventario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3429000" cy="100584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CRUD de productos, stock venta/crítico, edición y alertas visuales.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407408" y="1298448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49D6F5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49D6F5"/>
                </a:solidFill>
              </a:rPr>
              <a:t>Bodegas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4407408" y="1627632"/>
            <a:ext cx="3429000" cy="100584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Crear bodega/sucursal, asignar stock y consultar stock por producto.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247888" y="1298448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FF6EC7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F6EC7"/>
                </a:solidFill>
              </a:rPr>
              <a:t>Proveedores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8247888" y="1627632"/>
            <a:ext cx="3429000" cy="100584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Gestión de proveedores y restricciones visuales según rol.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66928" y="3127248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8E7BFF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8E7BFF"/>
                </a:solidFill>
              </a:rPr>
              <a:t>Pedidos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566928" y="3456432"/>
            <a:ext cx="3429000" cy="100584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Crear pedido, validar campos, consultar boleta y estado.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407408" y="3127248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FFB347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FB347"/>
                </a:solidFill>
              </a:rPr>
              <a:t>Envíos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4407408" y="3456432"/>
            <a:ext cx="3429000" cy="100584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Crear envío, consultar por pedido y actualizar estado.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8247888" y="3127248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49D6F5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49D6F5"/>
                </a:solidFill>
              </a:rPr>
              <a:t>Notificaciones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8247888" y="3456432"/>
            <a:ext cx="3429000" cy="100584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Listar, filtrar, enviar correo y mostrar avisos en Navbar.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Flujo integrado de negocio</a:t>
            </a:r>
            <a:endParaRPr lang="en-US" sz="2900" dirty="0"/>
          </a:p>
        </p:txBody>
      </p:sp>
      <p:pic>
        <p:nvPicPr>
          <p:cNvPr id="7" name="Image 0" descr="/mnt/data/0f15bf8a-b47d-40a2-b8c0-90b4a22ee5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2636"/>
            <a:ext cx="7086600" cy="5017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1764792"/>
            <a:ext cx="548640" cy="0"/>
          </a:xfrm>
          <a:prstGeom prst="line">
            <a:avLst/>
          </a:prstGeom>
          <a:noFill/>
          <a:ln w="15240">
            <a:solidFill>
              <a:srgbClr val="2635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9646920" y="1764792"/>
            <a:ext cx="548640" cy="0"/>
          </a:xfrm>
          <a:prstGeom prst="line">
            <a:avLst/>
          </a:prstGeom>
          <a:noFill/>
          <a:ln w="15240">
            <a:solidFill>
              <a:srgbClr val="2635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0744200" y="1764792"/>
            <a:ext cx="548640" cy="0"/>
          </a:xfrm>
          <a:prstGeom prst="line">
            <a:avLst/>
          </a:prstGeom>
          <a:noFill/>
          <a:ln w="15240">
            <a:solidFill>
              <a:srgbClr val="2635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046720" y="1508760"/>
            <a:ext cx="475488" cy="475488"/>
          </a:xfrm>
          <a:prstGeom prst="rect">
            <a:avLst/>
          </a:prstGeom>
          <a:solidFill>
            <a:srgbClr val="49D6F5"/>
          </a:solidFill>
          <a:ln>
            <a:solidFill>
              <a:srgbClr val="49D6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016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63840" y="214884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8FA"/>
                </a:solidFill>
              </a:rPr>
              <a:t>Login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0" y="1508760"/>
            <a:ext cx="475488" cy="475488"/>
          </a:xfrm>
          <a:prstGeom prst="rect">
            <a:avLst/>
          </a:prstGeom>
          <a:solidFill>
            <a:srgbClr val="64E889"/>
          </a:solidFill>
          <a:ln>
            <a:solidFill>
              <a:srgbClr val="64E88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016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961120" y="214884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8FA"/>
                </a:solidFill>
              </a:rPr>
              <a:t>Pedido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241280" y="1508760"/>
            <a:ext cx="475488" cy="475488"/>
          </a:xfrm>
          <a:prstGeom prst="rect">
            <a:avLst/>
          </a:prstGeom>
          <a:solidFill>
            <a:srgbClr val="FF6EC7"/>
          </a:solidFill>
          <a:ln>
            <a:solidFill>
              <a:srgbClr val="FF6EC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016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0" y="214884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8FA"/>
                </a:solidFill>
              </a:rPr>
              <a:t>Stock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338560" y="1508760"/>
            <a:ext cx="475488" cy="475488"/>
          </a:xfrm>
          <a:prstGeom prst="rect">
            <a:avLst/>
          </a:prstGeom>
          <a:solidFill>
            <a:srgbClr val="8E7BFF"/>
          </a:solidFill>
          <a:ln>
            <a:solidFill>
              <a:srgbClr val="8E7B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1016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155680" y="214884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8FA"/>
                </a:solidFill>
              </a:rPr>
              <a:t>Aviso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09560" y="2788920"/>
            <a:ext cx="370332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inicia sesión y guarda token en localStorage.
</a:t>
            </a:r>
            <a:r>
              <a:rPr lang="en-US" sz="132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valida usuario, producto, cantidad y dirección.
</a:t>
            </a:r>
            <a:r>
              <a:rPr lang="en-US" sz="132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 descuenta stock y publica alerta si llega al mínimo.
</a:t>
            </a:r>
            <a:r>
              <a:rPr lang="en-US" sz="132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Envíos coordina despacho y Notificaciones informa al usuario.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7909560" y="51663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AEBAC4"/>
                </a:solidFill>
              </a:rPr>
              <a:t>Comunicación síncrona: REST / OpenFeign · Comunicación asíncrona: RabbitMQ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Evidencias: Swagger y SonarQube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49D6F5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49D6F5"/>
                </a:solidFill>
              </a:rPr>
              <a:t>Swagger / OpenAPI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594360" y="1655064"/>
            <a:ext cx="3429000" cy="100584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Documenta endpoints por microservicio: Usuarios, Inventario, Pedidos, Envíos y Notificaciones, cada uno con su puerto.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389120" y="1325880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64E889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64E889"/>
                </a:solidFill>
              </a:rPr>
              <a:t>Postman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4389120" y="1655064"/>
            <a:ext cx="3429000" cy="100584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Pruebas funcionales: registro de usuario, creación de proveedor, creación de pedido, nuevo envío y notificación.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183880" y="1325880"/>
            <a:ext cx="3429000" cy="256032"/>
          </a:xfrm>
          <a:prstGeom prst="rect">
            <a:avLst/>
          </a:prstGeom>
          <a:solidFill>
            <a:srgbClr val="0F1E2A">
              <a:alpha val="92000"/>
            </a:srgbClr>
          </a:solidFill>
          <a:ln w="10160">
            <a:solidFill>
              <a:srgbClr val="FF6EC7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FF6EC7"/>
                </a:solidFill>
              </a:rPr>
              <a:t>JUnit + Mockito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8183880" y="1655064"/>
            <a:ext cx="3429000" cy="1005840"/>
          </a:xfrm>
          <a:prstGeom prst="rect">
            <a:avLst/>
          </a:prstGeom>
          <a:solidFill>
            <a:srgbClr val="111A24">
              <a:alpha val="95000"/>
            </a:srgbClr>
          </a:solidFill>
          <a:ln w="6350">
            <a:solidFill>
              <a:srgbClr val="263544">
                <a:alpha val="6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3F8FA"/>
                </a:solidFill>
              </a:rPr>
              <a:t>Pruebas unitarias para servicios: búsquedas, validaciones, stock insuficiente, fallback de envíos y creación de notificaciones.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68680" y="309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E889"/>
                </a:solidFill>
              </a:rPr>
              <a:t>Resumen SonarQube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520440"/>
            <a:ext cx="5029200" cy="1170432"/>
          </a:xfrm>
          <a:prstGeom prst="rect">
            <a:avLst/>
          </a:prstGeom>
          <a:solidFill>
            <a:srgbClr val="111A24">
              <a:alpha val="97000"/>
            </a:srgbClr>
          </a:solidFill>
          <a:ln w="10160">
            <a:solidFill>
              <a:srgbClr val="64E889">
                <a:alpha val="65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F3F8FA"/>
                </a:solidFill>
              </a:rPr>
              <a:t>API Gateway: 0 security · 2 reliability · 10 maintainability · Rating A/C/A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3F8FA"/>
                </a:solidFill>
              </a:rPr>
              <a:t>Usuarios: 2 security · 4 reliability · 14 maintainability · Rating D/C/A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3F8FA"/>
                </a:solidFill>
              </a:rPr>
              <a:t>Inventario: 4 security · 13 reliability · 40 maintainability · Rating D/C/A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263640" y="3520440"/>
            <a:ext cx="5029200" cy="1170432"/>
          </a:xfrm>
          <a:prstGeom prst="rect">
            <a:avLst/>
          </a:prstGeom>
          <a:solidFill>
            <a:srgbClr val="111A24">
              <a:alpha val="97000"/>
            </a:srgbClr>
          </a:solidFill>
          <a:ln w="10160">
            <a:solidFill>
              <a:srgbClr val="FF6EC7">
                <a:alpha val="65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F3F8FA"/>
                </a:solidFill>
              </a:rPr>
              <a:t>Pedidos: 1 security · 9 reliability · 27 maintainability · Rating D/C/A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3F8FA"/>
                </a:solidFill>
              </a:rPr>
              <a:t>Notificaciones: 1 security · 4 reliability · 27 maintainability · Rating D/C/A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F3F8FA"/>
                </a:solidFill>
              </a:rPr>
              <a:t>Duplicación reportada: 0,0% en los servicios revisados.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914400" y="5559552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AEBAC4"/>
                </a:solidFill>
              </a:rPr>
              <a:t>Nota: Coverage 0,0% porque Sonar se ejecutó con -DskipTests; la evidencia de pruebas se presenta separada.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D6F5"/>
          </a:solidFill>
          <a:ln w="12700">
            <a:solidFill>
              <a:srgbClr val="49D6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931920" y="0"/>
            <a:ext cx="4297680" cy="73152"/>
          </a:xfrm>
          <a:prstGeom prst="rect">
            <a:avLst/>
          </a:prstGeom>
          <a:solidFill>
            <a:srgbClr val="64E889"/>
          </a:solidFill>
          <a:ln w="12700">
            <a:solidFill>
              <a:srgbClr val="64E8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Cierre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4E889"/>
                </a:solidFill>
              </a:rPr>
              <a:t>BENEFICIOS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77240" y="1764792"/>
            <a:ext cx="53949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y backend desacoplados: React solo consume endpoints del Gateway.
</a:t>
            </a:r>
            <a:r>
              <a:rPr lang="en-US" sz="152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Microservicios independientes: usuarios, inventario, pedidos, envíos y notificaciones.
</a:t>
            </a:r>
            <a:r>
              <a:rPr lang="en-US" sz="152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híbrida: REST/OpenFeign para acciones directas y RabbitMQ para eventos.
</a:t>
            </a:r>
            <a:r>
              <a:rPr lang="en-US" sz="1520" b="1" dirty="0">
                <a:solidFill>
                  <a:srgbClr val="64E8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entrega un entorno reproducible con persistencia y monitoreo de calidad.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6EC7"/>
                </a:solidFill>
              </a:rPr>
              <a:t>MEJORAS FUTURAS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6629400" y="1764792"/>
            <a:ext cx="498348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FF6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 vulnerabilidades detectadas por SonarQube en servicios con rating D.
</a:t>
            </a:r>
            <a:r>
              <a:rPr lang="en-US" sz="1520" b="1" dirty="0">
                <a:solidFill>
                  <a:srgbClr val="FF6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Levantar cobertura en Sonar ejecutando tests sin -DskipTests.
</a:t>
            </a:r>
            <a:r>
              <a:rPr lang="en-US" sz="1520" b="1" dirty="0">
                <a:solidFill>
                  <a:srgbClr val="FF6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refresh token, variables secretas seguras y pipeline CI/CD.
</a:t>
            </a:r>
            <a:r>
              <a:rPr lang="en-US" sz="1520" b="1" dirty="0">
                <a:solidFill>
                  <a:srgbClr val="FF6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3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perfiles dev/prod y endurecer CORS para producción.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49808" y="4681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49D6F5"/>
                </a:solidFill>
              </a:rPr>
              <a:t>Conclusión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77240" y="5056632"/>
            <a:ext cx="107442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F8FA"/>
                </a:solidFill>
              </a:rPr>
              <a:t>SmartLogix cumple una arquitectura fullstack coherente: React entrega una interfaz operativa, mientras Spring Boot organiza la lógica en microservicios seguros, documentados, contenerizados y comunicados por patrones claros.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666597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B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SmartLogix · Backend &amp; Frontend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01400" y="6620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9D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2023</Words>
  <Application>Microsoft Office PowerPoint</Application>
  <PresentationFormat>Panorámica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SmartLogix - Arquitectura Backend y Frontend</dc:title>
  <dc:subject>SmartLogix - presentación backend y frontend</dc:subject>
  <dc:creator>OpenAI</dc:creator>
  <cp:lastModifiedBy>ninita m</cp:lastModifiedBy>
  <cp:revision>2</cp:revision>
  <dcterms:created xsi:type="dcterms:W3CDTF">2026-06-18T00:15:19Z</dcterms:created>
  <dcterms:modified xsi:type="dcterms:W3CDTF">2026-06-18T00:24:20Z</dcterms:modified>
</cp:coreProperties>
</file>